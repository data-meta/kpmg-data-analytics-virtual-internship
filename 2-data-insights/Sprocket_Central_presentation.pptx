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61" r:id="rId10"/>
    <p:sldId id="262" r:id="rId11"/>
    <p:sldId id="263" r:id="rId12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1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hape 23"/>
          <p:cNvSpPr>
            <a:spLocks noGrp="1"/>
          </p:cNvSpPr>
          <p:nvPr>
            <p:ph type="body" sz="half" idx="13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36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73" name="Title Text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hape 39"/>
          <p:cNvSpPr>
            <a:spLocks noGrp="1"/>
          </p:cNvSpPr>
          <p:nvPr>
            <p:ph type="body" sz="half" idx="13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>
            <a:spLocks noGrp="1"/>
          </p:cNvSpPr>
          <p:nvPr>
            <p:ph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Title Text</a:t>
            </a:r>
          </a:p>
        </p:txBody>
      </p:sp>
      <p:sp>
        <p:nvSpPr>
          <p:cNvPr id="92" name="Body Level One…"/>
          <p:cNvSpPr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4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0" name="Shape 55"/>
          <p:cNvSpPr/>
          <p:nvPr/>
        </p:nvSpPr>
        <p:spPr>
          <a:xfrm>
            <a:off x="537899" y="1895175"/>
            <a:ext cx="3953102" cy="1376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t>Sprocket Central Pty Ltd</a:t>
            </a:r>
          </a:p>
        </p:txBody>
      </p:sp>
      <p:sp>
        <p:nvSpPr>
          <p:cNvPr id="111" name="Shape 56"/>
          <p:cNvSpPr/>
          <p:nvPr/>
        </p:nvSpPr>
        <p:spPr>
          <a:xfrm>
            <a:off x="537900" y="3315475"/>
            <a:ext cx="5550600" cy="525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Data analytics approach</a:t>
            </a:r>
          </a:p>
        </p:txBody>
      </p:sp>
      <p:pic>
        <p:nvPicPr>
          <p:cNvPr id="112" name="Shape 57" descr="Shap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0" y="1275524"/>
            <a:ext cx="1982300" cy="23870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58"/>
          <p:cNvSpPr/>
          <p:nvPr/>
        </p:nvSpPr>
        <p:spPr>
          <a:xfrm>
            <a:off x="537900" y="3666599"/>
            <a:ext cx="6249600" cy="36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dirty="0"/>
              <a:t> </a:t>
            </a:r>
            <a:r>
              <a:rPr lang="en-GB" dirty="0"/>
              <a:t>Muhammad Usman Khan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6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7" name="Shape 6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118" name="Shape 65"/>
          <p:cNvSpPr/>
          <p:nvPr/>
        </p:nvSpPr>
        <p:spPr>
          <a:xfrm>
            <a:off x="343874" y="1211200"/>
            <a:ext cx="5459402" cy="170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Introduction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Data Exploration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Model Development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Interpretation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70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2" name="Shape 71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Introduction</a:t>
            </a:r>
          </a:p>
        </p:txBody>
      </p:sp>
      <p:sp>
        <p:nvSpPr>
          <p:cNvPr id="123" name="Shape 72"/>
          <p:cNvSpPr/>
          <p:nvPr/>
        </p:nvSpPr>
        <p:spPr>
          <a:xfrm>
            <a:off x="361507" y="1083298"/>
            <a:ext cx="2004237" cy="475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r"/>
            <a:r>
              <a:rPr lang="en-GB" sz="1800" u="sng" dirty="0">
                <a:latin typeface="Segoe UI Emoji" panose="020B0502040204020203" pitchFamily="34" charset="0"/>
                <a:ea typeface="Segoe UI Emoji" panose="020B0502040204020203" pitchFamily="34" charset="0"/>
              </a:rPr>
              <a:t>Problem Outline</a:t>
            </a:r>
            <a:endParaRPr sz="1800" u="sng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24" name="Shape 73"/>
          <p:cNvSpPr/>
          <p:nvPr/>
        </p:nvSpPr>
        <p:spPr>
          <a:xfrm>
            <a:off x="89221" y="1643083"/>
            <a:ext cx="4191537" cy="3920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b="0" i="0" dirty="0">
                <a:solidFill>
                  <a:srgbClr val="1F1F1F"/>
                </a:solidFill>
                <a:effectLst/>
                <a:latin typeface="+mj-lt"/>
              </a:rPr>
              <a:t>Sprocket Central Pty Ltd is a long-time customer of KPMG that specialises in selling high-quality bikes and affordable cycling accessories to cyclists.</a:t>
            </a:r>
          </a:p>
          <a:p>
            <a:endParaRPr lang="en-GB" sz="14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1F1F1F"/>
                </a:solidFill>
                <a:latin typeface="+mj-lt"/>
              </a:rPr>
              <a:t>The Company is targeting 1000 new Customers 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+mj-lt"/>
              </a:rPr>
              <a:t>to drive the most value for the organisation. </a:t>
            </a:r>
          </a:p>
          <a:p>
            <a:endParaRPr lang="en-GB" sz="1400" b="0" i="0" dirty="0">
              <a:solidFill>
                <a:srgbClr val="000000"/>
              </a:solidFill>
              <a:effectLst/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b="0" i="0" dirty="0">
                <a:solidFill>
                  <a:srgbClr val="1F1F1F"/>
                </a:solidFill>
                <a:effectLst/>
                <a:latin typeface="+mj-lt"/>
              </a:rPr>
              <a:t>Sprocket Central Pty Ltd 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+mj-lt"/>
              </a:rPr>
              <a:t>marketing team is looking to boost business by analysing their existing customer dataset to determine customer trends and behaviour. </a:t>
            </a:r>
            <a:br>
              <a:rPr lang="en-GB" dirty="0">
                <a:latin typeface="+mj-lt"/>
              </a:rPr>
            </a:br>
            <a:br>
              <a:rPr lang="en-GB" dirty="0"/>
            </a:br>
            <a:r>
              <a:rPr lang="en-GB" dirty="0">
                <a:solidFill>
                  <a:srgbClr val="1F1F1F"/>
                </a:solidFill>
                <a:latin typeface="Sans-serif fonts"/>
              </a:rPr>
              <a:t> </a:t>
            </a:r>
            <a:endParaRPr dirty="0">
              <a:solidFill>
                <a:srgbClr val="1F1F1F"/>
              </a:solidFill>
              <a:latin typeface="Sans-serif fonts"/>
            </a:endParaRPr>
          </a:p>
        </p:txBody>
      </p:sp>
      <p:sp>
        <p:nvSpPr>
          <p:cNvPr id="2" name="Shape 72">
            <a:extLst>
              <a:ext uri="{FF2B5EF4-FFF2-40B4-BE49-F238E27FC236}">
                <a16:creationId xmlns:a16="http://schemas.microsoft.com/office/drawing/2014/main" id="{B78F05F2-14D4-C705-A729-B1293F46CC9D}"/>
              </a:ext>
            </a:extLst>
          </p:cNvPr>
          <p:cNvSpPr/>
          <p:nvPr/>
        </p:nvSpPr>
        <p:spPr>
          <a:xfrm>
            <a:off x="4580200" y="1099457"/>
            <a:ext cx="3466213" cy="443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ctr"/>
            <a:r>
              <a:rPr lang="en-GB" sz="1600" u="sng" dirty="0">
                <a:latin typeface="Segoe UI Emoji" panose="020B0502040204020203" pitchFamily="34" charset="0"/>
                <a:ea typeface="Segoe UI Emoji" panose="020B0502040204020203" pitchFamily="34" charset="0"/>
              </a:rPr>
              <a:t>Approach for Customer Analysis</a:t>
            </a:r>
            <a:endParaRPr sz="1600" u="sng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Shape 73">
            <a:extLst>
              <a:ext uri="{FF2B5EF4-FFF2-40B4-BE49-F238E27FC236}">
                <a16:creationId xmlns:a16="http://schemas.microsoft.com/office/drawing/2014/main" id="{FC089D3A-101D-37EB-41AA-F28FAE7325A6}"/>
              </a:ext>
            </a:extLst>
          </p:cNvPr>
          <p:cNvSpPr/>
          <p:nvPr/>
        </p:nvSpPr>
        <p:spPr>
          <a:xfrm>
            <a:off x="4821865" y="1697919"/>
            <a:ext cx="4232914" cy="3425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b="0" i="0" dirty="0">
                <a:solidFill>
                  <a:srgbClr val="1F1F1F"/>
                </a:solidFill>
                <a:effectLst/>
                <a:latin typeface="+mj-lt"/>
              </a:rPr>
              <a:t>Age Distributions</a:t>
            </a:r>
          </a:p>
          <a:p>
            <a:endParaRPr lang="en-GB" sz="1400" b="0" i="0" dirty="0">
              <a:solidFill>
                <a:srgbClr val="1F1F1F"/>
              </a:solidFill>
              <a:effectLst/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1F1F1F"/>
                </a:solidFill>
                <a:latin typeface="+mj-lt"/>
              </a:rPr>
              <a:t>Number of bike purchased in Previous 3 years</a:t>
            </a:r>
          </a:p>
          <a:p>
            <a:endParaRPr lang="en-GB" sz="1400" dirty="0">
              <a:solidFill>
                <a:srgbClr val="1F1F1F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1F1F1F"/>
                </a:solidFill>
                <a:latin typeface="+mj-lt"/>
              </a:rPr>
              <a:t>Job industry segmentation</a:t>
            </a:r>
          </a:p>
          <a:p>
            <a:endParaRPr lang="en-GB" sz="1400" dirty="0">
              <a:solidFill>
                <a:srgbClr val="1F1F1F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1F1F1F"/>
                </a:solidFill>
                <a:latin typeface="+mj-lt"/>
              </a:rPr>
              <a:t>Wealth Segmentation</a:t>
            </a:r>
          </a:p>
          <a:p>
            <a:endParaRPr lang="en-GB" sz="1400" dirty="0">
              <a:solidFill>
                <a:srgbClr val="1F1F1F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1F1F1F"/>
                </a:solidFill>
                <a:latin typeface="+mj-lt"/>
              </a:rPr>
              <a:t>Cars Owner Segmentation in each sate</a:t>
            </a:r>
          </a:p>
          <a:p>
            <a:endParaRPr lang="en-GB" sz="1400" dirty="0">
              <a:solidFill>
                <a:srgbClr val="1F1F1F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1F1F1F"/>
                </a:solidFill>
                <a:latin typeface="+mj-lt"/>
              </a:rPr>
              <a:t>Customer Profile</a:t>
            </a:r>
            <a:br>
              <a:rPr lang="en-GB" dirty="0">
                <a:latin typeface="+mj-lt"/>
              </a:rPr>
            </a:br>
            <a:br>
              <a:rPr lang="en-GB" dirty="0"/>
            </a:br>
            <a:r>
              <a:rPr lang="en-GB" dirty="0">
                <a:solidFill>
                  <a:srgbClr val="1F1F1F"/>
                </a:solidFill>
                <a:latin typeface="Sans-serif fonts"/>
              </a:rPr>
              <a:t> </a:t>
            </a:r>
            <a:endParaRPr dirty="0">
              <a:solidFill>
                <a:srgbClr val="1F1F1F"/>
              </a:solidFill>
              <a:latin typeface="Sans-serif fonts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62227" y="963696"/>
            <a:ext cx="8610644" cy="59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GB" sz="1200" dirty="0">
                <a:solidFill>
                  <a:srgbClr val="FF0000"/>
                </a:solidFill>
                <a:latin typeface="Copperplate Gothic Bold" panose="020E0705020206020404" pitchFamily="34" charset="0"/>
                <a:cs typeface="Cavolini" panose="020B0502040204020203" pitchFamily="66" charset="0"/>
              </a:rPr>
              <a:t>Data Quality </a:t>
            </a:r>
            <a:r>
              <a:rPr lang="en-GB" sz="1200" b="0" dirty="0">
                <a:solidFill>
                  <a:srgbClr val="1F1F1F"/>
                </a:solidFill>
                <a:latin typeface="Copperplate Gothic Bold" panose="020E0705020206020404" pitchFamily="34" charset="0"/>
                <a:cs typeface="Cavolini" panose="020B0502040204020203" pitchFamily="66" charset="0"/>
              </a:rPr>
              <a:t>issue highlights in Transaction, Customer demographics and Customer address Data sets</a:t>
            </a:r>
            <a:endParaRPr sz="1200" b="0" dirty="0">
              <a:solidFill>
                <a:srgbClr val="1F1F1F"/>
              </a:solidFill>
              <a:latin typeface="Copperplate Gothic Bold" panose="020E0705020206020404" pitchFamily="34" charset="0"/>
              <a:cs typeface="Cavolini" panose="020B0502040204020203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F66A1-F89F-4453-298A-DF2196BED5C2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57034" y="1498370"/>
            <a:ext cx="8446332" cy="345108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116958" y="973306"/>
            <a:ext cx="3673549" cy="722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GB" sz="1600" b="0" dirty="0">
                <a:solidFill>
                  <a:srgbClr val="1F1F1F"/>
                </a:solidFill>
                <a:latin typeface="Verdana Pro Cond Semibold" panose="020B0706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Bike Related Purchase Based on Age  And Gender of customers</a:t>
            </a:r>
            <a:endParaRPr sz="1600" b="0" dirty="0">
              <a:solidFill>
                <a:srgbClr val="1F1F1F"/>
              </a:solidFill>
              <a:latin typeface="Verdana Pro Cond Semibold" panose="020B0706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</p:txBody>
      </p:sp>
      <p:sp>
        <p:nvSpPr>
          <p:cNvPr id="2" name="Shape 81">
            <a:extLst>
              <a:ext uri="{FF2B5EF4-FFF2-40B4-BE49-F238E27FC236}">
                <a16:creationId xmlns:a16="http://schemas.microsoft.com/office/drawing/2014/main" id="{633380BB-81C4-794A-3E9B-6053F432EA58}"/>
              </a:ext>
            </a:extLst>
          </p:cNvPr>
          <p:cNvSpPr/>
          <p:nvPr/>
        </p:nvSpPr>
        <p:spPr>
          <a:xfrm>
            <a:off x="13163" y="1696036"/>
            <a:ext cx="3835822" cy="3203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Highest Bike buying customers are between 40-49 age group.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GB" sz="12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In the new purchase customer Graph people age between 40-49 and 50-59 are the highest bike purchasers.</a:t>
            </a:r>
          </a:p>
          <a:p>
            <a:endParaRPr lang="en-GB" sz="12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In the Bike purchase by gender Females are the highest bike purchasers.</a:t>
            </a:r>
          </a:p>
          <a:p>
            <a:endParaRPr lang="en-GB" sz="12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The visualisation shows high purchase numbers between middle aged group and Females which declares them as</a:t>
            </a:r>
            <a:r>
              <a:rPr lang="en-GB" sz="1200" b="0" u="sng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 </a:t>
            </a:r>
            <a:r>
              <a:rPr lang="en-GB" sz="1400" b="0" u="sng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Potential Customers.</a:t>
            </a:r>
            <a:endParaRPr sz="1400" b="0" u="sng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B80FC9-AA1F-E312-74C3-CBA53442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708" y="852149"/>
            <a:ext cx="2546498" cy="22366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D2C473-07D0-FBBB-D5CC-64DFE243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833650"/>
            <a:ext cx="2610293" cy="2255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403A95-A050-3BE4-F7F1-182A55B84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31" y="3178625"/>
            <a:ext cx="4524154" cy="182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921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563272" y="977982"/>
            <a:ext cx="8058214" cy="439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ctr"/>
            <a:r>
              <a:rPr lang="en-GB" sz="1600" b="0" dirty="0">
                <a:solidFill>
                  <a:srgbClr val="1F1F1F"/>
                </a:solidFill>
                <a:latin typeface="Verdana Pro Cond Semibold" panose="020B0706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Top Performing Job industries sectors Related to Max Profit and Bike Purchasing</a:t>
            </a:r>
            <a:endParaRPr sz="1600" b="0" dirty="0">
              <a:solidFill>
                <a:srgbClr val="1F1F1F"/>
              </a:solidFill>
              <a:latin typeface="Verdana Pro Cond Semibold" panose="020B0706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</p:txBody>
      </p:sp>
      <p:sp>
        <p:nvSpPr>
          <p:cNvPr id="2" name="Shape 81">
            <a:extLst>
              <a:ext uri="{FF2B5EF4-FFF2-40B4-BE49-F238E27FC236}">
                <a16:creationId xmlns:a16="http://schemas.microsoft.com/office/drawing/2014/main" id="{633380BB-81C4-794A-3E9B-6053F432EA58}"/>
              </a:ext>
            </a:extLst>
          </p:cNvPr>
          <p:cNvSpPr/>
          <p:nvPr/>
        </p:nvSpPr>
        <p:spPr>
          <a:xfrm>
            <a:off x="205025" y="1575014"/>
            <a:ext cx="3196761" cy="3380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4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Top 3 industry contributing to highest profit are: </a:t>
            </a:r>
            <a:r>
              <a:rPr lang="en-GB" sz="105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Financial Services, Health, Manufacturing </a:t>
            </a:r>
            <a:r>
              <a:rPr lang="en-GB" sz="14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GB" sz="1400" b="0" dirty="0">
              <a:solidFill>
                <a:srgbClr val="1F1F1F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4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The job industries sectors are within city commute, which is reason of high bike purchase.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GB" sz="1400" b="0" dirty="0">
              <a:solidFill>
                <a:srgbClr val="1F1F1F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4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Agriculture, Entertainment, IT, Property, Retail and Telecommunications have returned less than $1Millon in profits.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F90A0-93BE-AAF4-9B0E-3DD548A39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096" y="1575014"/>
            <a:ext cx="5474682" cy="314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290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563272" y="977982"/>
            <a:ext cx="8058214" cy="56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ctr"/>
            <a:r>
              <a:rPr lang="en-GB" sz="2400" b="0" dirty="0">
                <a:solidFill>
                  <a:srgbClr val="1F1F1F"/>
                </a:solidFill>
                <a:latin typeface="Verdana Pro Cond Semibold" panose="020B0706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No of Cars owned in each State</a:t>
            </a:r>
            <a:endParaRPr sz="2400" b="0" dirty="0">
              <a:solidFill>
                <a:srgbClr val="1F1F1F"/>
              </a:solidFill>
              <a:latin typeface="Verdana Pro Cond Semibold" panose="020B0706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</p:txBody>
      </p:sp>
      <p:sp>
        <p:nvSpPr>
          <p:cNvPr id="2" name="Shape 81">
            <a:extLst>
              <a:ext uri="{FF2B5EF4-FFF2-40B4-BE49-F238E27FC236}">
                <a16:creationId xmlns:a16="http://schemas.microsoft.com/office/drawing/2014/main" id="{633380BB-81C4-794A-3E9B-6053F432EA58}"/>
              </a:ext>
            </a:extLst>
          </p:cNvPr>
          <p:cNvSpPr/>
          <p:nvPr/>
        </p:nvSpPr>
        <p:spPr>
          <a:xfrm>
            <a:off x="205025" y="1575014"/>
            <a:ext cx="3196761" cy="3271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6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States namely </a:t>
            </a:r>
            <a:r>
              <a:rPr lang="en-GB" sz="1600" b="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NSW, QLD, VIC </a:t>
            </a:r>
            <a:r>
              <a:rPr lang="en-GB" sz="16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could be premium markets which have potential.</a:t>
            </a:r>
          </a:p>
          <a:p>
            <a:endParaRPr lang="en-GB" sz="1600" b="0" dirty="0">
              <a:solidFill>
                <a:srgbClr val="1F1F1F"/>
              </a:solidFill>
              <a:latin typeface="Verdana" panose="020B0604030504040204" pitchFamily="34" charset="0"/>
              <a:ea typeface="Verdana" panose="020B0604030504040204" pitchFamily="34" charset="0"/>
              <a:cs typeface="Cavolini" panose="03000502040302020204" pitchFamily="66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6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NSW has almost the equal no of bike Purchasers who owns cars and who don’t have no cars which indicates </a:t>
            </a:r>
            <a:r>
              <a:rPr lang="en-GB" sz="1600" b="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high potential of market growth</a:t>
            </a:r>
            <a:r>
              <a:rPr lang="en-GB" sz="1600" b="0" dirty="0">
                <a:solidFill>
                  <a:srgbClr val="1F1F1F"/>
                </a:solidFill>
                <a:latin typeface="Verdana" panose="020B0604030504040204" pitchFamily="34" charset="0"/>
                <a:ea typeface="Verdana" panose="020B0604030504040204" pitchFamily="34" charset="0"/>
                <a:cs typeface="Cavolini" panose="03000502040302020204" pitchFamily="66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9D258-E7F5-6C93-A868-285CD1029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186" y="1694757"/>
            <a:ext cx="5497536" cy="307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0712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8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0" name="Shape 89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Model Development</a:t>
            </a:r>
          </a:p>
        </p:txBody>
      </p:sp>
      <p:sp>
        <p:nvSpPr>
          <p:cNvPr id="141" name="Shape 90"/>
          <p:cNvSpPr/>
          <p:nvPr/>
        </p:nvSpPr>
        <p:spPr>
          <a:xfrm>
            <a:off x="56825" y="976297"/>
            <a:ext cx="9018062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ctr"/>
            <a:r>
              <a:rPr lang="en-GB" dirty="0"/>
              <a:t>Customer Classification – Targeting high Value Customers</a:t>
            </a:r>
            <a:endParaRPr dirty="0"/>
          </a:p>
        </p:txBody>
      </p:sp>
      <p:sp>
        <p:nvSpPr>
          <p:cNvPr id="142" name="Shape 91"/>
          <p:cNvSpPr/>
          <p:nvPr/>
        </p:nvSpPr>
        <p:spPr>
          <a:xfrm>
            <a:off x="205025" y="1791597"/>
            <a:ext cx="6551966" cy="2557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GB" dirty="0"/>
              <a:t>High values customers who will be targeted from new list</a:t>
            </a:r>
            <a:r>
              <a:rPr dirty="0"/>
              <a:t>.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Mostly high value customers are female as compared to males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Working in Health, Financial, Manufacturing industry sector.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Aged between 38-49.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Who are based in NSW, VIC.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97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9" name="Shape 9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Interpretation</a:t>
            </a:r>
          </a:p>
        </p:txBody>
      </p:sp>
      <p:sp>
        <p:nvSpPr>
          <p:cNvPr id="150" name="Shape 99"/>
          <p:cNvSpPr/>
          <p:nvPr/>
        </p:nvSpPr>
        <p:spPr>
          <a:xfrm>
            <a:off x="124007" y="1065808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ctr"/>
            <a:r>
              <a:rPr lang="en-GB" dirty="0"/>
              <a:t>Summary Table of High Valued customers</a:t>
            </a:r>
            <a:endParaRPr dirty="0"/>
          </a:p>
        </p:txBody>
      </p:sp>
      <p:sp>
        <p:nvSpPr>
          <p:cNvPr id="151" name="Shape 100"/>
          <p:cNvSpPr/>
          <p:nvPr/>
        </p:nvSpPr>
        <p:spPr>
          <a:xfrm>
            <a:off x="124007" y="1677999"/>
            <a:ext cx="8733951" cy="433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GB" dirty="0"/>
              <a:t>Here are some high valued customers which come under Classification of Platinum Customers</a:t>
            </a:r>
            <a:r>
              <a:rPr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A16E3E-7DBD-6BB9-63D2-53C2E4B8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7" y="2312581"/>
            <a:ext cx="8565600" cy="25344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06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8" name="Shape 107"/>
          <p:cNvSpPr/>
          <p:nvPr/>
        </p:nvSpPr>
        <p:spPr>
          <a:xfrm>
            <a:off x="537899" y="1895175"/>
            <a:ext cx="3953102" cy="723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rPr lang="en-GB" dirty="0"/>
              <a:t>Thank You!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1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2" name="Shape 114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Appendix</a:t>
            </a:r>
          </a:p>
        </p:txBody>
      </p:sp>
      <p:sp>
        <p:nvSpPr>
          <p:cNvPr id="163" name="Shape 115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GB" dirty="0"/>
              <a:t>CFM Analysis Customer Profile Segmentation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C8AAA-4F40-EBF4-6AEC-AC5FDDCC6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990" y="1720246"/>
            <a:ext cx="4529721" cy="2755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DC178E-8946-67A1-FA74-86B88B182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30" y="1977138"/>
            <a:ext cx="3725929" cy="14252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404</Words>
  <Application>Microsoft Office PowerPoint</Application>
  <PresentationFormat>On-screen Show (16:9)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Copperplate Gothic Bold</vt:lpstr>
      <vt:lpstr>Helvetica</vt:lpstr>
      <vt:lpstr>Open Sans</vt:lpstr>
      <vt:lpstr>Open Sans Extrabold</vt:lpstr>
      <vt:lpstr>Open Sans Light</vt:lpstr>
      <vt:lpstr>Sans-serif fonts</vt:lpstr>
      <vt:lpstr>Segoe UI Emoji</vt:lpstr>
      <vt:lpstr>Verdana</vt:lpstr>
      <vt:lpstr>Verdana Pro Cond Semibold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Usman Khan</cp:lastModifiedBy>
  <cp:revision>2</cp:revision>
  <dcterms:modified xsi:type="dcterms:W3CDTF">2023-10-06T03:22:41Z</dcterms:modified>
</cp:coreProperties>
</file>